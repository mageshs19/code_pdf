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60" r:id="rId3"/>
    <p:sldId id="262" r:id="rId4"/>
    <p:sldId id="264" r:id="rId5"/>
    <p:sldId id="265" r:id="rId6"/>
    <p:sldId id="257" r:id="rId7"/>
    <p:sldId id="266" r:id="rId8"/>
    <p:sldId id="268" r:id="rId9"/>
    <p:sldId id="269" r:id="rId10"/>
    <p:sldId id="270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" dt="2026-08-21T10:40:00.438"/>
    <p1510:client id="{1028D4AF-BFC5-5394-881A-F82D2D0FB6AA}" v="602" dt="2026-08-21T06:46:19.797"/>
    <p1510:client id="{18444377-FE10-4E96-16BC-5FC29631F5E9}" v="89" dt="2026-08-21T09:02:55.386"/>
    <p1510:client id="{31C4F3DE-C723-59BA-889B-E77A8DC72626}" v="190" dt="2026-08-21T05:58:15.041"/>
    <p1510:client id="{803DF81C-8F3C-CFF8-BA8F-CE1177E038A4}" v="544" dt="2026-08-21T06:21:29.003"/>
    <p1510:client id="{858907CF-7EF5-A385-0C83-ECD6CE750B3E}" v="1218" dt="2026-08-20T20:51:41.235"/>
    <p1510:client id="{8E964D53-C3A5-33F2-91AA-1E1C46C0DAB3}" v="3" dt="2026-08-20T10:13:45.410"/>
    <p1510:client id="{E785EA46-A087-CF39-D13B-1C25091AB09C}" v="5" dt="2026-08-20T21:20:14.755"/>
    <p1510:client id="{F32B46D3-FA88-B7BC-F2DE-D38F9F8E6058}" v="486" dt="2026-08-21T02:07:38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dia (28).jpg">
            <a:extLst>
              <a:ext uri="{FF2B5EF4-FFF2-40B4-BE49-F238E27FC236}">
                <a16:creationId xmlns:a16="http://schemas.microsoft.com/office/drawing/2014/main" id="{589EBDED-83C2-3E5D-6D31-87784B9B7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8" y="-10886"/>
            <a:ext cx="10312400" cy="687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71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7E2F66-1D8F-9ED0-7DEC-62C3502BFC6D}"/>
              </a:ext>
            </a:extLst>
          </p:cNvPr>
          <p:cNvSpPr txBox="1"/>
          <p:nvPr/>
        </p:nvSpPr>
        <p:spPr>
          <a:xfrm>
            <a:off x="1994649" y="123264"/>
            <a:ext cx="782170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/>
              <a:t>KASBON IDMS to DB2 Migration</a:t>
            </a:r>
            <a:br>
              <a:rPr lang="en-US" sz="2400" dirty="0"/>
            </a:br>
            <a:r>
              <a:rPr lang="en-US" i="1">
                <a:solidFill>
                  <a:srgbClr val="C00000"/>
                </a:solidFill>
              </a:rPr>
              <a:t>Our Journey from Exploration to AI-Powered Solution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0BD84-0C63-D30A-BE36-E5E52C53CC24}"/>
              </a:ext>
            </a:extLst>
          </p:cNvPr>
          <p:cNvSpPr txBox="1"/>
          <p:nvPr/>
        </p:nvSpPr>
        <p:spPr>
          <a:xfrm>
            <a:off x="705970" y="862852"/>
            <a:ext cx="11161057" cy="5298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b="1"/>
              <a:t>Agenda</a:t>
            </a:r>
            <a:endParaRPr lang="en-US" sz="2000"/>
          </a:p>
          <a:p>
            <a:pPr marL="742950" indent="-514350">
              <a:spcBef>
                <a:spcPts val="500"/>
              </a:spcBef>
              <a:spcAft>
                <a:spcPts val="500"/>
              </a:spcAft>
              <a:buAutoNum type="arabicPeriod"/>
            </a:pPr>
            <a:r>
              <a:rPr lang="en-US" sz="2000" b="1">
                <a:solidFill>
                  <a:srgbClr val="0070C0"/>
                </a:solidFill>
              </a:rPr>
              <a:t>Use Case Discovery</a:t>
            </a:r>
            <a:br>
              <a:rPr lang="en-US" sz="2000" dirty="0"/>
            </a:br>
            <a:r>
              <a:rPr lang="en-US" sz="2000"/>
              <a:t>Understanding the manual migration landscape and identifying AI automation opportunities</a:t>
            </a:r>
          </a:p>
          <a:p>
            <a:pPr marL="742950" indent="-514350">
              <a:spcBef>
                <a:spcPts val="500"/>
              </a:spcBef>
              <a:spcAft>
                <a:spcPts val="500"/>
              </a:spcAft>
              <a:buAutoNum type="arabicPeriod"/>
            </a:pPr>
            <a:r>
              <a:rPr lang="en-US" sz="2000" b="1">
                <a:solidFill>
                  <a:srgbClr val="C00000"/>
                </a:solidFill>
              </a:rPr>
              <a:t>Problem Statement</a:t>
            </a:r>
            <a:br>
              <a:rPr lang="en-US" sz="2000" dirty="0"/>
            </a:br>
            <a:r>
              <a:rPr lang="en-US" sz="2000"/>
              <a:t>Defining the migration challenges, business constraints, and modernization objectives</a:t>
            </a:r>
          </a:p>
          <a:p>
            <a:pPr marL="742950" indent="-514350">
              <a:spcBef>
                <a:spcPts val="500"/>
              </a:spcBef>
              <a:spcAft>
                <a:spcPts val="500"/>
              </a:spcAft>
              <a:buAutoNum type="arabicPeriod"/>
            </a:pPr>
            <a:r>
              <a:rPr lang="en-US" sz="2000" b="1">
                <a:solidFill>
                  <a:srgbClr val="00B050"/>
                </a:solidFill>
              </a:rPr>
              <a:t>AI Solution Framework</a:t>
            </a:r>
            <a:br>
              <a:rPr lang="en-US" sz="2000" dirty="0"/>
            </a:br>
            <a:r>
              <a:rPr lang="en-US" sz="2000">
                <a:ea typeface="+mn-lt"/>
                <a:cs typeface="+mn-lt"/>
              </a:rPr>
              <a:t>Designing the approach to address key migration challenge</a:t>
            </a:r>
          </a:p>
          <a:p>
            <a:pPr marL="742950" indent="-514350">
              <a:spcBef>
                <a:spcPts val="500"/>
              </a:spcBef>
              <a:spcAft>
                <a:spcPts val="500"/>
              </a:spcAft>
              <a:buAutoNum type="arabicPeriod"/>
            </a:pPr>
            <a:r>
              <a:rPr lang="en-US" sz="2000" b="1">
                <a:solidFill>
                  <a:srgbClr val="0070C0"/>
                </a:solidFill>
              </a:rPr>
              <a:t>6-Week Exploration: A Case Study</a:t>
            </a:r>
            <a:br>
              <a:rPr lang="en-US" sz="2000" dirty="0"/>
            </a:br>
            <a:r>
              <a:rPr lang="en-US" sz="2000">
                <a:ea typeface="+mn-lt"/>
                <a:cs typeface="+mn-lt"/>
              </a:rPr>
              <a:t>Evaluating and experimenting with different AI-driven approaches</a:t>
            </a:r>
          </a:p>
          <a:p>
            <a:pPr marL="742950" indent="-514350">
              <a:spcBef>
                <a:spcPts val="500"/>
              </a:spcBef>
              <a:spcAft>
                <a:spcPts val="500"/>
              </a:spcAft>
              <a:buAutoNum type="arabicPeriod"/>
            </a:pPr>
            <a:r>
              <a:rPr lang="en-US" sz="2000" b="1">
                <a:solidFill>
                  <a:srgbClr val="00B050"/>
                </a:solidFill>
              </a:rPr>
              <a:t>Solution &amp; Customer Value</a:t>
            </a:r>
            <a:br>
              <a:rPr lang="en-US" sz="2000" dirty="0"/>
            </a:br>
            <a:r>
              <a:rPr lang="en-US" sz="2000"/>
              <a:t>Translating our learnings into AI solutions, reduced effort, and cost optimization</a:t>
            </a:r>
          </a:p>
          <a:p>
            <a:pPr marL="742950" indent="-514350">
              <a:spcBef>
                <a:spcPts val="500"/>
              </a:spcBef>
              <a:spcAft>
                <a:spcPts val="500"/>
              </a:spcAft>
              <a:buAutoNum type="arabicPeriod"/>
            </a:pPr>
            <a:r>
              <a:rPr lang="en-US" sz="2000" b="1">
                <a:solidFill>
                  <a:schemeClr val="accent5">
                    <a:lumMod val="76000"/>
                  </a:schemeClr>
                </a:solidFill>
              </a:rPr>
              <a:t>Live Demo</a:t>
            </a:r>
            <a:br>
              <a:rPr lang="en-US" sz="2000" dirty="0"/>
            </a:br>
            <a:r>
              <a:rPr lang="en-US" sz="2000">
                <a:ea typeface="+mn-lt"/>
                <a:cs typeface="+mn-lt"/>
              </a:rPr>
              <a:t>Demonstrating the AI-driven migration approach and automation in action</a:t>
            </a:r>
          </a:p>
          <a:p>
            <a:pPr marL="742950" indent="-514350">
              <a:spcBef>
                <a:spcPts val="500"/>
              </a:spcBef>
              <a:spcAft>
                <a:spcPts val="500"/>
              </a:spcAft>
              <a:buAutoNum type="arabicPeriod"/>
            </a:pPr>
            <a:r>
              <a:rPr lang="en-US" sz="2000" b="1">
                <a:solidFill>
                  <a:srgbClr val="C00000"/>
                </a:solidFill>
                <a:ea typeface="+mn-lt"/>
                <a:cs typeface="+mn-lt"/>
              </a:rPr>
              <a:t>FAQ</a:t>
            </a:r>
            <a:r>
              <a:rPr lang="en-US" sz="2000" b="1">
                <a:solidFill>
                  <a:srgbClr val="C00000"/>
                </a:solidFill>
              </a:rPr>
              <a:t> &amp; Discussion </a:t>
            </a:r>
            <a:endParaRPr lang="en-US" sz="20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6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084DA1-43D0-63E7-39D5-36C74CF45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853342"/>
              </p:ext>
            </p:extLst>
          </p:nvPr>
        </p:nvGraphicFramePr>
        <p:xfrm>
          <a:off x="135699" y="772437"/>
          <a:ext cx="11909037" cy="5852160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959808">
                  <a:extLst>
                    <a:ext uri="{9D8B030D-6E8A-4147-A177-3AD203B41FA5}">
                      <a16:colId xmlns:a16="http://schemas.microsoft.com/office/drawing/2014/main" val="250410787"/>
                    </a:ext>
                  </a:extLst>
                </a:gridCol>
                <a:gridCol w="5584168">
                  <a:extLst>
                    <a:ext uri="{9D8B030D-6E8A-4147-A177-3AD203B41FA5}">
                      <a16:colId xmlns:a16="http://schemas.microsoft.com/office/drawing/2014/main" val="1402469377"/>
                    </a:ext>
                  </a:extLst>
                </a:gridCol>
                <a:gridCol w="3060636">
                  <a:extLst>
                    <a:ext uri="{9D8B030D-6E8A-4147-A177-3AD203B41FA5}">
                      <a16:colId xmlns:a16="http://schemas.microsoft.com/office/drawing/2014/main" val="3563692558"/>
                    </a:ext>
                  </a:extLst>
                </a:gridCol>
                <a:gridCol w="1304425">
                  <a:extLst>
                    <a:ext uri="{9D8B030D-6E8A-4147-A177-3AD203B41FA5}">
                      <a16:colId xmlns:a16="http://schemas.microsoft.com/office/drawing/2014/main" val="234991564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Categories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Activity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Current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Plan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222669"/>
                  </a:ext>
                </a:extLst>
              </a:tr>
              <a:tr h="36195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IDMS Database Analysis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Analyze IDMS Schema &amp; Business Rules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Manual Analysis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AI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314953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SME Validation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Manual Process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598429"/>
                  </a:ext>
                </a:extLst>
              </a:tr>
              <a:tr h="361950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DB2 Database Design &amp; Creation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IDMS → DB2 Mapping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Manual Process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AI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142528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Design DB2 Schema - Define Transformation Rules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Manual Process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AI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003588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Create DB2 Data Model &amp; Tables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Hopex</a:t>
                      </a:r>
                      <a:r>
                        <a:rPr lang="en-US" dirty="0">
                          <a:effectLst/>
                        </a:rPr>
                        <a:t> Tool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636070"/>
                  </a:ext>
                </a:extLst>
              </a:tr>
              <a:tr h="361950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Data Migration &amp; Sync-up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IDMS Data Unload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Reusable Program &amp; JCL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986404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Transform &amp; Sync Data for DB2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Reusable Program &amp; JCL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68919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DB2 Data Unload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DB2 Utility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948401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Compare IDMS &amp; DB2 Data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Reusable Program &amp; JCL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AI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747347"/>
                  </a:ext>
                </a:extLst>
              </a:tr>
              <a:tr h="361950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Application Development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Analyze IDMS Programs &amp; Define DB2 Specification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Manual Process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AI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71433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Add Switch Logic - Convert IDMS Calls to DB2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REXX Script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327641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Compare IDMS &amp; DB2 Output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Reusable Program &amp; JCL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AI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718613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Update JCL for DB2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REXX Script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280487"/>
                  </a:ext>
                </a:extLst>
              </a:tr>
              <a:tr h="36195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Testing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Unit Testing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Manual Process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AI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950738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Integration &amp; Performance Testing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Test Automation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AI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9265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7FF2032-C85F-67DA-FA33-D38D08C5417D}"/>
              </a:ext>
            </a:extLst>
          </p:cNvPr>
          <p:cNvSpPr txBox="1"/>
          <p:nvPr/>
        </p:nvSpPr>
        <p:spPr>
          <a:xfrm>
            <a:off x="1531207" y="167262"/>
            <a:ext cx="91210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ea typeface="+mn-lt"/>
                <a:cs typeface="+mn-lt"/>
              </a:rPr>
              <a:t>Use Case Discovery</a:t>
            </a:r>
            <a:r>
              <a:rPr lang="en-US" sz="2400" b="1" dirty="0">
                <a:solidFill>
                  <a:srgbClr val="0070C0"/>
                </a:solidFill>
                <a:ea typeface="+mn-lt"/>
                <a:cs typeface="+mn-lt"/>
              </a:rPr>
              <a:t>  </a:t>
            </a:r>
            <a:r>
              <a:rPr lang="en-US" b="1">
                <a:ea typeface="+mn-lt"/>
                <a:cs typeface="+mn-lt"/>
              </a:rPr>
              <a:t>- </a:t>
            </a: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KASBON IDMS to DB2 Migration  </a:t>
            </a:r>
            <a:r>
              <a:rPr lang="en-US">
                <a:solidFill>
                  <a:srgbClr val="C00000"/>
                </a:solidFill>
                <a:ea typeface="+mn-lt"/>
                <a:cs typeface="+mn-lt"/>
              </a:rPr>
              <a:t>Current Manual Process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4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3B855A-21B1-40DF-2553-856F4DF6E44C}"/>
              </a:ext>
            </a:extLst>
          </p:cNvPr>
          <p:cNvSpPr txBox="1"/>
          <p:nvPr/>
        </p:nvSpPr>
        <p:spPr>
          <a:xfrm>
            <a:off x="326445" y="316322"/>
            <a:ext cx="11000192" cy="63310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b="1">
                <a:solidFill>
                  <a:srgbClr val="C00000"/>
                </a:solidFill>
              </a:rPr>
              <a:t>Problem Statement </a:t>
            </a:r>
            <a:r>
              <a:rPr lang="en-US" sz="2000" b="1">
                <a:solidFill>
                  <a:srgbClr val="C00000"/>
                </a:solidFill>
              </a:rPr>
              <a:t>  -   </a:t>
            </a:r>
            <a:r>
              <a:rPr lang="en-US" sz="2000" b="1"/>
              <a:t>KASBON IDMS to DB2</a:t>
            </a:r>
            <a:r>
              <a:rPr lang="en-US" sz="2000" b="1" dirty="0">
                <a:solidFill>
                  <a:srgbClr val="C00000"/>
                </a:solidFill>
              </a:rPr>
              <a:t> </a:t>
            </a:r>
            <a:r>
              <a:rPr lang="en-US" b="1">
                <a:solidFill>
                  <a:srgbClr val="000000"/>
                </a:solidFill>
              </a:rPr>
              <a:t>Migration – </a:t>
            </a:r>
            <a:r>
              <a:rPr lang="en-US" b="1">
                <a:solidFill>
                  <a:srgbClr val="C00000"/>
                </a:solidFill>
              </a:rPr>
              <a:t>Manual Process        </a:t>
            </a:r>
            <a:endParaRPr lang="en-US" sz="2000">
              <a:solidFill>
                <a:srgbClr val="C00000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Legacy Data Model</a:t>
            </a:r>
            <a:r>
              <a:rPr lang="en-US">
                <a:ea typeface="+mn-lt"/>
                <a:cs typeface="+mn-lt"/>
              </a:rPr>
              <a:t> — Convert the IDMS </a:t>
            </a:r>
            <a:r>
              <a:rPr lang="en-US" b="1">
                <a:ea typeface="+mn-lt"/>
                <a:cs typeface="+mn-lt"/>
              </a:rPr>
              <a:t>network database model</a:t>
            </a:r>
            <a:r>
              <a:rPr lang="en-US">
                <a:ea typeface="+mn-lt"/>
                <a:cs typeface="+mn-lt"/>
              </a:rPr>
              <a:t> into a </a:t>
            </a:r>
            <a:r>
              <a:rPr lang="en-US" b="1">
                <a:ea typeface="+mn-lt"/>
                <a:cs typeface="+mn-lt"/>
              </a:rPr>
              <a:t>relational DB2 model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COBOL Logic Preservation</a:t>
            </a:r>
            <a:r>
              <a:rPr lang="en-US">
                <a:ea typeface="+mn-lt"/>
                <a:cs typeface="+mn-lt"/>
              </a:rPr>
              <a:t> — Retain the </a:t>
            </a:r>
            <a:r>
              <a:rPr lang="en-US" b="1">
                <a:ea typeface="+mn-lt"/>
                <a:cs typeface="+mn-lt"/>
              </a:rPr>
              <a:t>existing COBOL business logic</a:t>
            </a:r>
            <a:r>
              <a:rPr lang="en-US">
                <a:ea typeface="+mn-lt"/>
                <a:cs typeface="+mn-lt"/>
              </a:rPr>
              <a:t>, while modernizing only the database access layer</a:t>
            </a:r>
          </a:p>
          <a:p>
            <a:pPr marL="285750" indent="-285750" algn="just">
              <a:lnSpc>
                <a:spcPct val="150000"/>
              </a:lnSpc>
              <a:buFont typeface="Arial,Sans-Serif"/>
              <a:buChar char="•"/>
            </a:pPr>
            <a:r>
              <a:rPr lang="en-US" b="1"/>
              <a:t>License &amp; Support Constraints</a:t>
            </a:r>
            <a:r>
              <a:rPr lang="en-US"/>
              <a:t> — IDMS licensing and support limitations are driving the need for modernization 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Data &amp; Business Rule Transformation</a:t>
            </a:r>
            <a:r>
              <a:rPr lang="en-US">
                <a:ea typeface="+mn-lt"/>
                <a:cs typeface="+mn-lt"/>
              </a:rPr>
              <a:t> — Significant differences between IDMS and DB2 :</a:t>
            </a:r>
            <a:endParaRPr lang="en-US" dirty="0">
              <a:ea typeface="+mn-lt"/>
              <a:cs typeface="+mn-lt"/>
            </a:endParaRPr>
          </a:p>
          <a:p>
            <a:pPr marL="742950" lvl="1" indent="-285750" algn="just">
              <a:lnSpc>
                <a:spcPct val="150000"/>
              </a:lnSpc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 Network → Relational Model Transformation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marL="800100" lvl="1" indent="-342900" algn="just">
              <a:lnSpc>
                <a:spcPct val="150000"/>
              </a:lnSpc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Business Rules &amp; Referential Integrity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marL="800100" lvl="1" indent="-342900" algn="just">
              <a:lnSpc>
                <a:spcPct val="150000"/>
              </a:lnSpc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Primary, Composite &amp; Foreign Key Mapping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marL="800100" lvl="1" indent="-342900" algn="just">
              <a:lnSpc>
                <a:spcPct val="150000"/>
              </a:lnSpc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Data Types, Formats &amp; Length Mapping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marL="800100" lvl="1" indent="-342900" algn="just">
              <a:lnSpc>
                <a:spcPct val="150000"/>
              </a:lnSpc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Data Transformation &amp; Compatibility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marL="800100" lvl="1" indent="-342900" algn="just">
              <a:lnSpc>
                <a:spcPct val="150000"/>
              </a:lnSpc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COBOL Database Access Conversion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marL="800100" lvl="1" indent="-342900" algn="just">
              <a:lnSpc>
                <a:spcPct val="150000"/>
              </a:lnSpc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Legacy Naming → DB2 Naming Standards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marL="800100" lvl="1" indent="-342900" algn="just">
              <a:lnSpc>
                <a:spcPct val="150000"/>
              </a:lnSpc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Data Validation &amp; Reconciliation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D78C6-E310-A2E2-6FC3-524924458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024" y="3252077"/>
            <a:ext cx="3279732" cy="1966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30617D-064F-BA09-22C5-C5B315DD1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425" y="5319256"/>
            <a:ext cx="6638795" cy="121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83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48B046-62FC-24C4-9A94-36F864336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776202"/>
              </p:ext>
            </p:extLst>
          </p:nvPr>
        </p:nvGraphicFramePr>
        <p:xfrm>
          <a:off x="208767" y="988930"/>
          <a:ext cx="11774687" cy="5689598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1831619">
                  <a:extLst>
                    <a:ext uri="{9D8B030D-6E8A-4147-A177-3AD203B41FA5}">
                      <a16:colId xmlns:a16="http://schemas.microsoft.com/office/drawing/2014/main" val="1875174299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471664804"/>
                    </a:ext>
                  </a:extLst>
                </a:gridCol>
                <a:gridCol w="3369733">
                  <a:extLst>
                    <a:ext uri="{9D8B030D-6E8A-4147-A177-3AD203B41FA5}">
                      <a16:colId xmlns:a16="http://schemas.microsoft.com/office/drawing/2014/main" val="483518669"/>
                    </a:ext>
                  </a:extLst>
                </a:gridCol>
                <a:gridCol w="3322135">
                  <a:extLst>
                    <a:ext uri="{9D8B030D-6E8A-4147-A177-3AD203B41FA5}">
                      <a16:colId xmlns:a16="http://schemas.microsoft.com/office/drawing/2014/main" val="1920519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1. Agentic AI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2. AI-Driven Workflow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3. AI-Assisted Automation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658840"/>
                  </a:ext>
                </a:extLst>
              </a:tr>
              <a:tr h="821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Solutions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Goal </a:t>
                      </a:r>
                      <a:r>
                        <a:rPr lang="en-US"/>
                        <a:t>→ Planning → Reasoning → Execution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Instructions </a:t>
                      </a:r>
                      <a:r>
                        <a:rPr lang="en-US"/>
                        <a:t>+ Business Rules → Reasoning → Execution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AI Knowledge </a:t>
                      </a:r>
                      <a:r>
                        <a:rPr lang="en-US"/>
                        <a:t>→ Rules → Deterministic Automation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052625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AI Role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controls the end-to-end process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reasons and executes within defined instructions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helps discover rules; automation executes them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170856"/>
                  </a:ext>
                </a:extLst>
              </a:tr>
              <a:tr h="804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 Benefit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Maximum autonomy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Faster implementation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 cost &amp; predictable execution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100283"/>
                  </a:ext>
                </a:extLst>
              </a:tr>
              <a:tr h="702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 Challenge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Higher cost &amp; less control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Cost &amp; consistency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Higher initial human effort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125896"/>
                  </a:ext>
                </a:extLst>
              </a:tr>
              <a:tr h="804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Best Fit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Dynamic, less rule-bound tasks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Structured workflows requiring AI reasoning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Rule-intensive, repeatable processes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76553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ighlight>
                            <a:srgbClr val="00FF00"/>
                          </a:highlight>
                        </a:rPr>
                        <a:t>Decision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suitable for the current problem due to complex business </a:t>
                      </a:r>
                      <a:r>
                        <a:rPr lang="en-US"/>
                        <a:t>rules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Selected as </a:t>
                      </a:r>
                      <a:r>
                        <a:rPr lang="en-US" b="1"/>
                        <a:t>Approach 1 </a:t>
                      </a:r>
                      <a:r>
                        <a:rPr lang="en-US"/>
                        <a:t>— faster to develop and explore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Selected as </a:t>
                      </a:r>
                      <a:r>
                        <a:rPr lang="en-US" b="1"/>
                        <a:t>Approach 2</a:t>
                      </a:r>
                      <a:r>
                        <a:rPr lang="en-US"/>
                        <a:t> — deterministic and scalable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72892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4339384-A027-B0D7-2481-70D441F32A86}"/>
              </a:ext>
            </a:extLst>
          </p:cNvPr>
          <p:cNvSpPr txBox="1"/>
          <p:nvPr/>
        </p:nvSpPr>
        <p:spPr>
          <a:xfrm>
            <a:off x="3441291" y="331838"/>
            <a:ext cx="470719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accent4">
                    <a:lumMod val="76000"/>
                  </a:schemeClr>
                </a:solidFill>
              </a:rPr>
              <a:t>AI-Based Solution Frameworks</a:t>
            </a:r>
          </a:p>
        </p:txBody>
      </p:sp>
    </p:spTree>
    <p:extLst>
      <p:ext uri="{BB962C8B-B14F-4D97-AF65-F5344CB8AC3E}">
        <p14:creationId xmlns:p14="http://schemas.microsoft.com/office/powerpoint/2010/main" val="2425643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s 2.png">
            <a:extLst>
              <a:ext uri="{FF2B5EF4-FFF2-40B4-BE49-F238E27FC236}">
                <a16:creationId xmlns:a16="http://schemas.microsoft.com/office/drawing/2014/main" id="{05A7F28B-5993-74FF-00A0-0703DE813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599" y="25749"/>
            <a:ext cx="10185721" cy="68290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5B5A2A-794F-F1B9-7D69-0D05CD113BFE}"/>
              </a:ext>
            </a:extLst>
          </p:cNvPr>
          <p:cNvSpPr txBox="1"/>
          <p:nvPr/>
        </p:nvSpPr>
        <p:spPr>
          <a:xfrm>
            <a:off x="531854" y="151034"/>
            <a:ext cx="29224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2 Exploration Approaches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144097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99E9BF-EF9B-A417-7C2B-A913C8096DD2}"/>
              </a:ext>
            </a:extLst>
          </p:cNvPr>
          <p:cNvSpPr txBox="1"/>
          <p:nvPr/>
        </p:nvSpPr>
        <p:spPr>
          <a:xfrm>
            <a:off x="793316" y="1661622"/>
            <a:ext cx="10824574" cy="33763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solidFill>
                  <a:srgbClr val="C00000"/>
                </a:solidFill>
                <a:ea typeface="+mn-lt"/>
                <a:cs typeface="+mn-lt"/>
              </a:rPr>
              <a:t>Challenges Identified — Approach 1, Stream 1: Mistral AI Agent</a:t>
            </a:r>
            <a:endParaRPr lang="en-US" b="1">
              <a:solidFill>
                <a:srgbClr val="C0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b="1"/>
              <a:t>Context Window Limitation</a:t>
            </a:r>
            <a:r>
              <a:rPr lang="en-US"/>
              <a:t> — Difficulty handling large migration inputs 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b="1"/>
              <a:t>Limited Tool Access</a:t>
            </a:r>
            <a:r>
              <a:rPr lang="en-US"/>
              <a:t> — Restricted integration with external systems and enterprise tools 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b="1"/>
              <a:t>AI Evaluation &amp; Monitoring - </a:t>
            </a:r>
            <a:endParaRPr lang="en-US"/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b="1"/>
              <a:t>Completeness</a:t>
            </a:r>
            <a:r>
              <a:rPr lang="en-US"/>
              <a:t> — Risk of missing information with large inputs 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b="1"/>
              <a:t>Instruction Adherence</a:t>
            </a:r>
            <a:r>
              <a:rPr lang="en-US"/>
              <a:t> — Verify consistent adherence to defined instructions 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b="1"/>
              <a:t>Accuracy</a:t>
            </a:r>
            <a:r>
              <a:rPr lang="en-US"/>
              <a:t> — Validate correctness of generated results 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b="1"/>
              <a:t>Hallucination Risk</a:t>
            </a:r>
            <a:r>
              <a:rPr lang="en-US"/>
              <a:t> — Identify unsupported or incorrect outputs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70F0C-C24A-F205-69E2-F44A76249961}"/>
              </a:ext>
            </a:extLst>
          </p:cNvPr>
          <p:cNvSpPr txBox="1"/>
          <p:nvPr/>
        </p:nvSpPr>
        <p:spPr>
          <a:xfrm>
            <a:off x="788313" y="5028786"/>
            <a:ext cx="10832926" cy="17118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Approach 1, Stream 2 — Mistral Endpoint Prototype                -</a:t>
            </a:r>
            <a:r>
              <a:rPr lang="en-US" b="1" dirty="0">
                <a:ea typeface="+mn-lt"/>
                <a:cs typeface="+mn-lt"/>
              </a:rPr>
              <a:t>    </a:t>
            </a:r>
            <a:r>
              <a:rPr lang="en-US" dirty="0">
                <a:ea typeface="+mn-lt"/>
                <a:cs typeface="+mn-lt"/>
              </a:rPr>
              <a:t>Built a prototype using the </a:t>
            </a:r>
            <a:r>
              <a:rPr lang="en-US" b="1" dirty="0">
                <a:ea typeface="+mn-lt"/>
                <a:cs typeface="+mn-lt"/>
              </a:rPr>
              <a:t>Mistral Endpoint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UI limitations could be addressed</a:t>
            </a:r>
            <a:r>
              <a:rPr lang="en-US">
                <a:ea typeface="+mn-lt"/>
                <a:cs typeface="+mn-lt"/>
              </a:rPr>
              <a:t>, but two challenges remained: 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b="1">
                <a:ea typeface="+mn-lt"/>
                <a:cs typeface="+mn-lt"/>
              </a:rPr>
              <a:t>⚠️ Cost</a:t>
            </a:r>
            <a:r>
              <a:rPr lang="en-US">
                <a:ea typeface="+mn-lt"/>
                <a:cs typeface="+mn-lt"/>
              </a:rPr>
              <a:t> — LLM execution can be expensive at scale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ea typeface="+mn-lt"/>
                <a:cs typeface="+mn-lt"/>
              </a:rPr>
              <a:t>⚠️ Probabilistic </a:t>
            </a:r>
            <a:r>
              <a:rPr lang="en-US" b="1">
                <a:ea typeface="+mn-lt"/>
                <a:cs typeface="+mn-lt"/>
              </a:rPr>
              <a:t>Behavior</a:t>
            </a:r>
            <a:r>
              <a:rPr lang="en-US" dirty="0">
                <a:ea typeface="+mn-lt"/>
                <a:cs typeface="+mn-lt"/>
              </a:rPr>
              <a:t> — Outputs can vary, requiring continuous evaluation and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0E7C2-1247-A52F-2E81-398D512FC188}"/>
              </a:ext>
            </a:extLst>
          </p:cNvPr>
          <p:cNvSpPr txBox="1"/>
          <p:nvPr/>
        </p:nvSpPr>
        <p:spPr>
          <a:xfrm>
            <a:off x="783716" y="240733"/>
            <a:ext cx="6205817" cy="400110"/>
          </a:xfrm>
          <a:prstGeom prst="rect">
            <a:avLst/>
          </a:prstGeom>
          <a:solidFill>
            <a:srgbClr val="C0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Key Challenges and </a:t>
            </a:r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Limitation in Approach 1</a:t>
            </a:r>
            <a:endParaRPr lang="en-US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CEBDE-7CB0-ABE8-F846-C256190E8C5F}"/>
              </a:ext>
            </a:extLst>
          </p:cNvPr>
          <p:cNvSpPr txBox="1"/>
          <p:nvPr/>
        </p:nvSpPr>
        <p:spPr>
          <a:xfrm>
            <a:off x="783290" y="769280"/>
            <a:ext cx="10824574" cy="8833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Approach 1 — Mistral AI Exploration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b="1"/>
              <a:t>Client </a:t>
            </a:r>
            <a:r>
              <a:rPr lang="en-US" b="1">
                <a:ea typeface="+mn-lt"/>
                <a:cs typeface="+mn-lt"/>
              </a:rPr>
              <a:t>Security Constraint</a:t>
            </a:r>
            <a:r>
              <a:rPr lang="en-US">
                <a:ea typeface="+mn-lt"/>
                <a:cs typeface="+mn-lt"/>
              </a:rPr>
              <a:t> — Mistral AI access limited to the </a:t>
            </a:r>
            <a:r>
              <a:rPr lang="en-US" b="1">
                <a:ea typeface="+mn-lt"/>
                <a:cs typeface="+mn-lt"/>
              </a:rPr>
              <a:t>approved environment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72603-8D5D-5E97-723C-04C4B1210213}"/>
              </a:ext>
            </a:extLst>
          </p:cNvPr>
          <p:cNvSpPr txBox="1"/>
          <p:nvPr/>
        </p:nvSpPr>
        <p:spPr>
          <a:xfrm>
            <a:off x="9809544" y="101279"/>
            <a:ext cx="238245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>
                <a:solidFill>
                  <a:srgbClr val="000000"/>
                </a:solidFill>
                <a:latin typeface="Aptos"/>
              </a:rPr>
              <a:t>KASBON IDMS to DB2 Migration</a:t>
            </a:r>
            <a:r>
              <a:rPr sz="12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17499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2A733-5CDD-88E8-5A71-1381374ECC2E}"/>
              </a:ext>
            </a:extLst>
          </p:cNvPr>
          <p:cNvSpPr txBox="1"/>
          <p:nvPr/>
        </p:nvSpPr>
        <p:spPr>
          <a:xfrm>
            <a:off x="3413913" y="166641"/>
            <a:ext cx="510226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C00000"/>
                </a:solidFill>
                <a:ea typeface="+mn-lt"/>
                <a:cs typeface="+mn-lt"/>
              </a:rPr>
              <a:t>6-Week Exploration: A Case Study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3F1E47-A4D9-F2CA-D6A5-0068E2C02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408564"/>
              </p:ext>
            </p:extLst>
          </p:nvPr>
        </p:nvGraphicFramePr>
        <p:xfrm>
          <a:off x="664781" y="598025"/>
          <a:ext cx="10693253" cy="6000916"/>
        </p:xfrm>
        <a:graphic>
          <a:graphicData uri="http://schemas.openxmlformats.org/drawingml/2006/table">
            <a:tbl>
              <a:tblPr bandRow="1">
                <a:tableStyleId>{ED083AE6-46FA-4A59-8FB0-9F97EB10719F}</a:tableStyleId>
              </a:tblPr>
              <a:tblGrid>
                <a:gridCol w="2676645">
                  <a:extLst>
                    <a:ext uri="{9D8B030D-6E8A-4147-A177-3AD203B41FA5}">
                      <a16:colId xmlns:a16="http://schemas.microsoft.com/office/drawing/2014/main" val="1302673217"/>
                    </a:ext>
                  </a:extLst>
                </a:gridCol>
                <a:gridCol w="1360023">
                  <a:extLst>
                    <a:ext uri="{9D8B030D-6E8A-4147-A177-3AD203B41FA5}">
                      <a16:colId xmlns:a16="http://schemas.microsoft.com/office/drawing/2014/main" val="3521615222"/>
                    </a:ext>
                  </a:extLst>
                </a:gridCol>
                <a:gridCol w="1245424">
                  <a:extLst>
                    <a:ext uri="{9D8B030D-6E8A-4147-A177-3AD203B41FA5}">
                      <a16:colId xmlns:a16="http://schemas.microsoft.com/office/drawing/2014/main" val="2559362552"/>
                    </a:ext>
                  </a:extLst>
                </a:gridCol>
                <a:gridCol w="1345555">
                  <a:extLst>
                    <a:ext uri="{9D8B030D-6E8A-4147-A177-3AD203B41FA5}">
                      <a16:colId xmlns:a16="http://schemas.microsoft.com/office/drawing/2014/main" val="3514033511"/>
                    </a:ext>
                  </a:extLst>
                </a:gridCol>
                <a:gridCol w="1128531">
                  <a:extLst>
                    <a:ext uri="{9D8B030D-6E8A-4147-A177-3AD203B41FA5}">
                      <a16:colId xmlns:a16="http://schemas.microsoft.com/office/drawing/2014/main" val="1107088364"/>
                    </a:ext>
                  </a:extLst>
                </a:gridCol>
                <a:gridCol w="1533645">
                  <a:extLst>
                    <a:ext uri="{9D8B030D-6E8A-4147-A177-3AD203B41FA5}">
                      <a16:colId xmlns:a16="http://schemas.microsoft.com/office/drawing/2014/main" val="4086301068"/>
                    </a:ext>
                  </a:extLst>
                </a:gridCol>
                <a:gridCol w="1403430">
                  <a:extLst>
                    <a:ext uri="{9D8B030D-6E8A-4147-A177-3AD203B41FA5}">
                      <a16:colId xmlns:a16="http://schemas.microsoft.com/office/drawing/2014/main" val="260008517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Approach 1- AI Agents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Approach 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3150619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S1: Mistral UI - AI </a:t>
                      </a:r>
                      <a:r>
                        <a:rPr lang="en-US" sz="1700" dirty="0">
                          <a:effectLst/>
                        </a:rPr>
                        <a:t>Prompt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S2 : Mistral AI End </a:t>
                      </a:r>
                      <a:r>
                        <a:rPr lang="en-US" sz="1700" dirty="0">
                          <a:effectLst/>
                        </a:rPr>
                        <a:t>Point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Python Automation with AI</a:t>
                      </a:r>
                      <a:endParaRPr lang="en-US" sz="17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392449846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Current Status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>
                          <a:effectLst/>
                        </a:rPr>
                        <a:t>Iterating on the agent file based on prior feedback.</a:t>
                      </a:r>
                      <a:endParaRPr lang="en-US" sz="17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>
                          <a:effectLst/>
                        </a:rPr>
                        <a:t>Prototype completed</a:t>
                      </a:r>
                      <a:endParaRPr lang="en-US" sz="17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Exploring rules and concepts </a:t>
                      </a:r>
                      <a:r>
                        <a:rPr lang="en-US" sz="1700">
                          <a:effectLst/>
                        </a:rPr>
                        <a:t>to improve accuracy.</a:t>
                      </a:r>
                      <a:endParaRPr lang="en-US" sz="17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094064203"/>
                  </a:ext>
                </a:extLst>
              </a:tr>
              <a:tr h="4629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Environment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Hexaware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Belfius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H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exaware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Belfius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Hexaware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Belfius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131119"/>
                  </a:ext>
                </a:extLst>
              </a:tr>
              <a:tr h="381000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>
                          <a:effectLst/>
                        </a:rPr>
                        <a:t>Phase 1 </a:t>
                      </a:r>
                      <a:r>
                        <a:rPr lang="en-US" sz="1700">
                          <a:effectLst/>
                        </a:rPr>
                        <a:t>- Database Sheet Mapping - Achieved Accuracy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338054132"/>
                  </a:ext>
                </a:extLst>
              </a:tr>
              <a:tr h="636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>
                          <a:effectLst/>
                        </a:rPr>
                        <a:t>Records, Columns, PK, FK</a:t>
                      </a:r>
                      <a:endParaRPr lang="en-US" sz="17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65%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70%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70%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627525"/>
                  </a:ext>
                </a:extLst>
              </a:tr>
              <a:tr h="7089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>
                          <a:effectLst/>
                        </a:rPr>
                        <a:t>Compositive Key, Date,</a:t>
                      </a:r>
                      <a:endParaRPr lang="en-US" sz="1700"/>
                    </a:p>
                    <a:p>
                      <a:pPr lvl="0" algn="l">
                        <a:buNone/>
                      </a:pPr>
                      <a:r>
                        <a:rPr lang="en-US" sz="1700">
                          <a:effectLst/>
                        </a:rPr>
                        <a:t>Business rules</a:t>
                      </a:r>
                      <a:endParaRPr lang="en-US" sz="17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50%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75%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462434"/>
                  </a:ext>
                </a:extLst>
              </a:tr>
              <a:tr h="4629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 err="1">
                          <a:effectLst/>
                        </a:rPr>
                        <a:t>Redine</a:t>
                      </a:r>
                      <a:r>
                        <a:rPr lang="en-US" sz="1700" dirty="0">
                          <a:effectLst/>
                        </a:rPr>
                        <a:t>, Occurs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Development </a:t>
                      </a:r>
                      <a:r>
                        <a:rPr lang="en-US" dirty="0" err="1">
                          <a:effectLst/>
                        </a:rPr>
                        <a:t>Inprogress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931345207"/>
                  </a:ext>
                </a:extLst>
              </a:tr>
              <a:tr h="304800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>
                          <a:effectLst/>
                        </a:rPr>
                        <a:t>Phase2 </a:t>
                      </a:r>
                      <a:r>
                        <a:rPr lang="en-US" sz="1700">
                          <a:effectLst/>
                        </a:rPr>
                        <a:t>- Cobol Code Conversion - Achieved Accuracy</a:t>
                      </a:r>
                      <a:endParaRPr lang="en-US" sz="1700" dirty="0"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139390059"/>
                  </a:ext>
                </a:extLst>
              </a:tr>
              <a:tr h="4774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>
                          <a:effectLst/>
                        </a:rPr>
                        <a:t>Update/Retrieval Program</a:t>
                      </a:r>
                      <a:endParaRPr lang="en-US" sz="1700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60%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60%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65%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-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292429"/>
                  </a:ext>
                </a:extLst>
              </a:tr>
              <a:tr h="4629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dirty="0">
                          <a:effectLst/>
                        </a:rPr>
                        <a:t>With </a:t>
                      </a:r>
                      <a:r>
                        <a:rPr lang="en-US" sz="1700" dirty="0" err="1">
                          <a:effectLst/>
                        </a:rPr>
                        <a:t>DCLgen</a:t>
                      </a:r>
                      <a:r>
                        <a:rPr lang="en-US" sz="1700" dirty="0">
                          <a:effectLst/>
                        </a:rPr>
                        <a:t>, Copybook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50%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70%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974241"/>
                  </a:ext>
                </a:extLst>
              </a:tr>
              <a:tr h="5353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>
                          <a:effectLst/>
                        </a:rPr>
                        <a:t>Restart Table, LRF</a:t>
                      </a:r>
                      <a:endParaRPr lang="en-US" sz="1700" dirty="0">
                        <a:effectLst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Development </a:t>
                      </a:r>
                      <a:r>
                        <a:rPr lang="en-US" dirty="0" err="1">
                          <a:effectLst/>
                        </a:rPr>
                        <a:t>Inprogress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49398268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FB84DCB-C9E7-0F88-AE0B-3B691B59FB5E}"/>
              </a:ext>
            </a:extLst>
          </p:cNvPr>
          <p:cNvSpPr txBox="1"/>
          <p:nvPr/>
        </p:nvSpPr>
        <p:spPr>
          <a:xfrm>
            <a:off x="9809544" y="101279"/>
            <a:ext cx="238245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>
                <a:solidFill>
                  <a:srgbClr val="000000"/>
                </a:solidFill>
                <a:latin typeface="Aptos"/>
              </a:rPr>
              <a:t>KASBON IDMS to DB2 Migration</a:t>
            </a:r>
            <a:r>
              <a:rPr sz="12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9893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5355-6EB8-FF53-A484-8F8B0E59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9C6B8A-DCA9-540D-5F08-12480902F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454421"/>
              </p:ext>
            </p:extLst>
          </p:nvPr>
        </p:nvGraphicFramePr>
        <p:xfrm>
          <a:off x="1030942" y="2585868"/>
          <a:ext cx="9623138" cy="4020107"/>
        </p:xfrm>
        <a:graphic>
          <a:graphicData uri="http://schemas.openxmlformats.org/drawingml/2006/table">
            <a:tbl>
              <a:tblPr bandRow="1">
                <a:tableStyleId>{ED083AE6-46FA-4A59-8FB0-9F97EB10719F}</a:tableStyleId>
              </a:tblPr>
              <a:tblGrid>
                <a:gridCol w="3369527">
                  <a:extLst>
                    <a:ext uri="{9D8B030D-6E8A-4147-A177-3AD203B41FA5}">
                      <a16:colId xmlns:a16="http://schemas.microsoft.com/office/drawing/2014/main" val="4074616919"/>
                    </a:ext>
                  </a:extLst>
                </a:gridCol>
                <a:gridCol w="6253611">
                  <a:extLst>
                    <a:ext uri="{9D8B030D-6E8A-4147-A177-3AD203B41FA5}">
                      <a16:colId xmlns:a16="http://schemas.microsoft.com/office/drawing/2014/main" val="1764832545"/>
                    </a:ext>
                  </a:extLst>
                </a:gridCol>
              </a:tblGrid>
              <a:tr h="4902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173975"/>
                  </a:ext>
                </a:extLst>
              </a:tr>
              <a:tr h="546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Reduced Manual Effort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Automate repetitive migration activities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0141512"/>
                  </a:ext>
                </a:extLst>
              </a:tr>
              <a:tr h="616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Cost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Reduce recurring AI and manual processing effort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826634"/>
                  </a:ext>
                </a:extLst>
              </a:tr>
              <a:tr h="560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Improved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Standardized, deterministic transformation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72433"/>
                  </a:ext>
                </a:extLst>
              </a:tr>
              <a:tr h="602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Faster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Accelerate analysis and conversion activities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529061"/>
                  </a:ext>
                </a:extLst>
              </a:tr>
              <a:tr h="58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Reusable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Build once and reuse validated rules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532298"/>
                  </a:ext>
                </a:extLst>
              </a:tr>
              <a:tr h="616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Scalable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Progressively automate additional migration scenarios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1932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A6AA23-EE20-0C86-34FA-F2D1FD667B28}"/>
              </a:ext>
            </a:extLst>
          </p:cNvPr>
          <p:cNvSpPr txBox="1"/>
          <p:nvPr/>
        </p:nvSpPr>
        <p:spPr>
          <a:xfrm>
            <a:off x="493059" y="123265"/>
            <a:ext cx="11205882" cy="10636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6">
                    <a:lumMod val="76000"/>
                  </a:schemeClr>
                </a:solidFill>
              </a:rPr>
              <a:t>Approach 2, Stream 1 — Python Automation with AI Evaluation</a:t>
            </a:r>
            <a:endParaRPr lang="en-US" sz="2400" dirty="0">
              <a:solidFill>
                <a:schemeClr val="accent6">
                  <a:lumMod val="76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000" b="1"/>
              <a:t>AI-assisted rule discovery and evaluation, followed by deterministic Python-based execution.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56CB2-1E21-C74C-87B0-4FEC370435C9}"/>
              </a:ext>
            </a:extLst>
          </p:cNvPr>
          <p:cNvSpPr txBox="1"/>
          <p:nvPr/>
        </p:nvSpPr>
        <p:spPr>
          <a:xfrm>
            <a:off x="661147" y="1311089"/>
            <a:ext cx="10365441" cy="10592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Customer Value </a:t>
            </a:r>
            <a:r>
              <a:rPr lang="en-US" sz="2200" b="1">
                <a:solidFill>
                  <a:schemeClr val="accent6">
                    <a:lumMod val="76000"/>
                  </a:schemeClr>
                </a:solidFill>
              </a:rPr>
              <a:t> - </a:t>
            </a:r>
            <a:r>
              <a:rPr lang="en-US" sz="2200" b="1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20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Creating smiles through great people and technology.</a:t>
            </a:r>
            <a:endParaRPr lang="en-US" sz="2200">
              <a:solidFill>
                <a:schemeClr val="accent6">
                  <a:lumMod val="76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200">
                <a:ea typeface="+mn-lt"/>
                <a:cs typeface="+mn-lt"/>
              </a:rPr>
              <a:t>Transforming our exploration into a scalable and sustainable migration solution.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65813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AF45A6-0F70-1728-57E6-1D7A71EF977E}"/>
              </a:ext>
            </a:extLst>
          </p:cNvPr>
          <p:cNvSpPr txBox="1"/>
          <p:nvPr/>
        </p:nvSpPr>
        <p:spPr>
          <a:xfrm>
            <a:off x="753153" y="358589"/>
            <a:ext cx="10309410" cy="61419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solidFill>
                  <a:schemeClr val="accent5">
                    <a:lumMod val="76000"/>
                  </a:schemeClr>
                </a:solidFill>
                <a:ea typeface="+mn-lt"/>
                <a:cs typeface="+mn-lt"/>
              </a:rPr>
              <a:t>Next Steps &amp; Opportunities</a:t>
            </a:r>
            <a:endParaRPr lang="en-US" sz="2400" b="1">
              <a:solidFill>
                <a:schemeClr val="accent5">
                  <a:lumMod val="76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          </a:t>
            </a:r>
            <a:r>
              <a:rPr lang="en-US" b="1" dirty="0">
                <a:solidFill>
                  <a:srgbClr val="0070C0"/>
                </a:solidFill>
              </a:rPr>
              <a:t>1</a:t>
            </a:r>
            <a:r>
              <a:rPr lang="en-US" sz="2000" b="1">
                <a:solidFill>
                  <a:srgbClr val="0070C0"/>
                </a:solidFill>
              </a:rPr>
              <a:t>. Productize Approach 2, Stream 2 — Tool Integration</a:t>
            </a:r>
          </a:p>
          <a:p>
            <a:pPr marL="1257300" lvl="2" indent="-342900">
              <a:lnSpc>
                <a:spcPct val="150000"/>
              </a:lnSpc>
              <a:buFont typeface="Wingdings"/>
              <a:buChar char="ü"/>
            </a:pPr>
            <a:r>
              <a:rPr lang="en-US" sz="2000"/>
              <a:t>Convert validated business rules into </a:t>
            </a:r>
            <a:r>
              <a:rPr lang="en-US" sz="2000" b="1"/>
              <a:t>reusable automation tools</a:t>
            </a:r>
            <a:r>
              <a:rPr lang="en-US" sz="2000" dirty="0"/>
              <a:t> </a:t>
            </a:r>
          </a:p>
          <a:p>
            <a:pPr marL="1257300" lvl="2" indent="-342900">
              <a:lnSpc>
                <a:spcPct val="150000"/>
              </a:lnSpc>
              <a:buFont typeface="Wingdings"/>
              <a:buChar char="ü"/>
            </a:pPr>
            <a:r>
              <a:rPr lang="en-US" sz="2000"/>
              <a:t>Explore </a:t>
            </a:r>
            <a:r>
              <a:rPr lang="en-US" sz="2000" b="1"/>
              <a:t>Mistral Connectors / MCP</a:t>
            </a:r>
            <a:r>
              <a:rPr lang="en-US" sz="2000"/>
              <a:t> for tool integration </a:t>
            </a:r>
            <a:endParaRPr lang="en-US" sz="2000" dirty="0"/>
          </a:p>
          <a:p>
            <a:pPr marL="1257300" lvl="2" indent="-342900">
              <a:lnSpc>
                <a:spcPct val="150000"/>
              </a:lnSpc>
              <a:buFont typeface="Wingdings"/>
              <a:buChar char="ü"/>
            </a:pPr>
            <a:r>
              <a:rPr lang="en-US" sz="2000"/>
              <a:t>Reduce LLM dependency and </a:t>
            </a:r>
            <a:r>
              <a:rPr lang="en-US" sz="2000" b="1"/>
              <a:t>optimize execution cost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         </a:t>
            </a:r>
            <a:r>
              <a:rPr lang="en-US" sz="2000" b="1">
                <a:solidFill>
                  <a:srgbClr val="0070C0"/>
                </a:solidFill>
              </a:rPr>
              <a:t>2. AI for Unexplored / Complex Rules</a:t>
            </a:r>
          </a:p>
          <a:p>
            <a:pPr marL="1257300" lvl="2" indent="-342900">
              <a:lnSpc>
                <a:spcPct val="150000"/>
              </a:lnSpc>
              <a:buFont typeface="Wingdings"/>
              <a:buChar char="ü"/>
            </a:pPr>
            <a:r>
              <a:rPr lang="en-US" sz="2000"/>
              <a:t>Use </a:t>
            </a:r>
            <a:r>
              <a:rPr lang="en-US" sz="2000" b="1"/>
              <a:t>Mistral Endpoint</a:t>
            </a:r>
            <a:r>
              <a:rPr lang="en-US" sz="2000"/>
              <a:t> for unknown or complex rules </a:t>
            </a:r>
            <a:endParaRPr lang="en-US" sz="2000" dirty="0"/>
          </a:p>
          <a:p>
            <a:pPr marL="1257300" lvl="2" indent="-342900">
              <a:lnSpc>
                <a:spcPct val="150000"/>
              </a:lnSpc>
              <a:buFont typeface="Wingdings"/>
              <a:buChar char="ü"/>
            </a:pPr>
            <a:r>
              <a:rPr lang="en-US" sz="2000"/>
              <a:t>Apply AI selectively for </a:t>
            </a:r>
            <a:r>
              <a:rPr lang="en-US" sz="2000" b="1"/>
              <a:t>exception handling and rule discovery</a:t>
            </a:r>
            <a:r>
              <a:rPr lang="en-US" sz="2000" dirty="0"/>
              <a:t> </a:t>
            </a:r>
          </a:p>
          <a:p>
            <a:pPr marL="1257300" lvl="2" indent="-342900">
              <a:lnSpc>
                <a:spcPct val="150000"/>
              </a:lnSpc>
              <a:buFont typeface="Wingdings"/>
              <a:buChar char="ü"/>
            </a:pPr>
            <a:r>
              <a:rPr lang="en-US" sz="2000"/>
              <a:t>Validate and convert new rules into </a:t>
            </a:r>
            <a:r>
              <a:rPr lang="en-US" sz="2000" b="1"/>
              <a:t>deterministic automation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b="1">
                <a:solidFill>
                  <a:schemeClr val="accent5">
                    <a:lumMod val="76000"/>
                  </a:schemeClr>
                </a:solidFill>
              </a:rPr>
              <a:t>Additional Use Cases</a:t>
            </a:r>
          </a:p>
          <a:p>
            <a:pPr marL="1257300" lvl="2" indent="-342900">
              <a:lnSpc>
                <a:spcPct val="150000"/>
              </a:lnSpc>
              <a:buFont typeface="Wingdings"/>
              <a:buChar char="ü"/>
            </a:pPr>
            <a:r>
              <a:rPr lang="en-US" sz="2000" b="1"/>
              <a:t>Unit Testing</a:t>
            </a:r>
            <a:r>
              <a:rPr lang="en-US" sz="2000" dirty="0"/>
              <a:t> </a:t>
            </a:r>
          </a:p>
          <a:p>
            <a:pPr marL="1257300" lvl="2" indent="-342900">
              <a:lnSpc>
                <a:spcPct val="150000"/>
              </a:lnSpc>
              <a:buFont typeface="Wingdings"/>
              <a:buChar char="ü"/>
            </a:pPr>
            <a:r>
              <a:rPr lang="en-US" sz="2000" b="1"/>
              <a:t>Integration Testing</a:t>
            </a:r>
            <a:r>
              <a:rPr lang="en-US" sz="2000" dirty="0"/>
              <a:t> </a:t>
            </a:r>
          </a:p>
          <a:p>
            <a:pPr marL="1257300" lvl="2" indent="-342900">
              <a:lnSpc>
                <a:spcPct val="150000"/>
              </a:lnSpc>
              <a:buFont typeface="Wingdings"/>
              <a:buChar char="ü"/>
            </a:pPr>
            <a:r>
              <a:rPr lang="en-US" sz="2000" b="1"/>
              <a:t>Data Migration &amp; Synchronization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7CE73-7BBD-494B-DBB6-15B8874B71B3}"/>
              </a:ext>
            </a:extLst>
          </p:cNvPr>
          <p:cNvSpPr txBox="1"/>
          <p:nvPr/>
        </p:nvSpPr>
        <p:spPr>
          <a:xfrm>
            <a:off x="9023684" y="100263"/>
            <a:ext cx="31683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u="none" strike="noStrike" baseline="0">
                <a:solidFill>
                  <a:srgbClr val="000000"/>
                </a:solidFill>
                <a:latin typeface="Aptos"/>
              </a:rPr>
              <a:t>KASBON IDMS to DB2 Migration</a:t>
            </a:r>
            <a:r>
              <a:rPr sz="12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sz="1200" dirty="0"/>
          </a:p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55129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Thank You Template for Company Culture PowerPoint - SlideModel">
            <a:extLst>
              <a:ext uri="{FF2B5EF4-FFF2-40B4-BE49-F238E27FC236}">
                <a16:creationId xmlns:a16="http://schemas.microsoft.com/office/drawing/2014/main" id="{1ED8F201-421D-12F1-BA9D-F72B14A9E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67" y="-41368"/>
            <a:ext cx="9904115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DDB3D-EECE-A15D-7523-FF506183351C}"/>
              </a:ext>
            </a:extLst>
          </p:cNvPr>
          <p:cNvSpPr txBox="1"/>
          <p:nvPr/>
        </p:nvSpPr>
        <p:spPr>
          <a:xfrm>
            <a:off x="123806" y="5745902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Management Team</a:t>
            </a:r>
            <a:r>
              <a:rPr lang="en-US" dirty="0"/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Praveen Shetty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Yassine Assa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13F5A-ABD1-5098-61E5-4501145EAB11}"/>
              </a:ext>
            </a:extLst>
          </p:cNvPr>
          <p:cNvSpPr txBox="1"/>
          <p:nvPr/>
        </p:nvSpPr>
        <p:spPr>
          <a:xfrm>
            <a:off x="2660591" y="5745900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Cobol Team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Naresh Choudhary 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Veerapandian</a:t>
            </a:r>
            <a:r>
              <a:rPr lang="en-US" dirty="0"/>
              <a:t> Kasi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0EB44-D552-9012-A034-7AB06A564A98}"/>
              </a:ext>
            </a:extLst>
          </p:cNvPr>
          <p:cNvSpPr txBox="1"/>
          <p:nvPr/>
        </p:nvSpPr>
        <p:spPr>
          <a:xfrm>
            <a:off x="5641070" y="5601216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AI Engineer Team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Magesh S     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 Aaron Sam AS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 Niraj </a:t>
            </a:r>
            <a:r>
              <a:rPr lang="en-US" dirty="0" err="1"/>
              <a:t>Fegade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224A3-AB5E-CBBC-4B02-809FC2D4CD1B}"/>
              </a:ext>
            </a:extLst>
          </p:cNvPr>
          <p:cNvSpPr txBox="1"/>
          <p:nvPr/>
        </p:nvSpPr>
        <p:spPr>
          <a:xfrm>
            <a:off x="3049820" y="3762387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accent4">
                    <a:lumMod val="76000"/>
                  </a:schemeClr>
                </a:solidFill>
              </a:rPr>
              <a:t>Open 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D24DCD-2CC1-972D-F758-48283BF004D1}"/>
              </a:ext>
            </a:extLst>
          </p:cNvPr>
          <p:cNvSpPr txBox="1"/>
          <p:nvPr/>
        </p:nvSpPr>
        <p:spPr>
          <a:xfrm>
            <a:off x="1089949" y="834342"/>
            <a:ext cx="4552709" cy="748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C00000"/>
                </a:solidFill>
                <a:latin typeface="Aptos"/>
              </a:rPr>
              <a:t>KASBON IDMS to DB2 Migration</a:t>
            </a:r>
            <a:r>
              <a:rPr sz="1800" b="0" i="0">
                <a:solidFill>
                  <a:srgbClr val="C00000"/>
                </a:solidFill>
                <a:latin typeface="Aptos"/>
                <a:ea typeface="Aptos"/>
                <a:cs typeface="Aptos"/>
              </a:rPr>
              <a:t>​</a:t>
            </a:r>
            <a:endParaRPr lang="en-US" dirty="0">
              <a:solidFill>
                <a:srgbClr val="C00000"/>
              </a:solidFill>
            </a:endParaRPr>
          </a:p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682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889</cp:revision>
  <dcterms:created xsi:type="dcterms:W3CDTF">2026-08-18T17:52:04Z</dcterms:created>
  <dcterms:modified xsi:type="dcterms:W3CDTF">2026-09-17T06:04:41Z</dcterms:modified>
</cp:coreProperties>
</file>